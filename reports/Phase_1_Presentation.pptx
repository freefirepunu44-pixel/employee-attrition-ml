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0000"/>
            <a:ext cx="12192000" cy="2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322" b="1">
                <a:solidFill>
                  <a:srgbClr val="F4A259"/>
                </a:solidFill>
              </a:defRPr>
            </a:pPr>
            <a:r>
              <a:t>EAST WEST INSTITUTE OF TECHNOLOGY</a:t>
            </a:r>
          </a:p>
          <a:p>
            <a:pPr algn="ctr">
              <a:defRPr sz="10236">
                <a:solidFill>
                  <a:srgbClr val="FFFFFF"/>
                </a:solidFill>
              </a:defRPr>
            </a:pPr>
            <a:r>
              <a:t>Department of CSE (IoT and Cyber Security including Blockchain Technology)</a:t>
            </a:r>
            <a:br/>
            <a:r>
              <a:t>Academic Year 2026-27 | 7th Semester</a:t>
            </a:r>
          </a:p>
          <a:p>
            <a:br/>
            <a:pPr algn="ctr">
              <a:defRPr sz="25196" b="1">
                <a:solidFill>
                  <a:srgbClr val="FFFFFF"/>
                </a:solidFill>
              </a:defRPr>
            </a:pPr>
            <a:r>
              <a:t>EMPLOYEE ATTRITION PREDICTION USING ML</a:t>
            </a:r>
          </a:p>
          <a:p>
            <a:pPr algn="ctr">
              <a:defRPr sz="14173">
                <a:solidFill>
                  <a:srgbClr val="F4A259"/>
                </a:solidFill>
              </a:defRPr>
            </a:pPr>
            <a:r>
              <a:t>PHASE 1 EVALUATION PRESENTATION (40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0" y="4800000"/>
            <a:ext cx="92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236">
                <a:solidFill>
                  <a:srgbClr val="FFFFFF"/>
                </a:solidFill>
              </a:defRPr>
            </a:pPr>
            <a:r>
              <a:t>Student Project Team | Machine Learning [BIC703]</a:t>
            </a:r>
          </a:p>
          <a:p>
            <a:pPr algn="ctr">
              <a:defRPr sz="9842">
                <a:solidFill>
                  <a:srgbClr val="F4A259"/>
                </a:solidFill>
              </a:defRPr>
            </a:pPr>
            <a:r>
              <a:t>Course Instructor &amp; Guide: Prof. P Bharath Krishna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0"/>
          <a:lstStyle/>
          <a:p>
            <a:pPr algn="l">
              <a:defRPr sz="15748" b="1">
                <a:solidFill>
                  <a:srgbClr val="FFFFFF"/>
                </a:solidFill>
              </a:defRPr>
            </a:pPr>
            <a:r>
              <a:t>Phase 1 Evaluation Agenda (Weeks 1 to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300000"/>
            <a:ext cx="10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Week 1: </a:t>
            </a:r>
            <a:r>
              <a:rPr sz="11023">
                <a:solidFill>
                  <a:srgbClr val="2B2B2B"/>
                </a:solidFill>
              </a:rPr>
              <a:t>Problem Identification, Domain Understanding &amp; Objectives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Week 2: </a:t>
            </a:r>
            <a:r>
              <a:rPr sz="11023">
                <a:solidFill>
                  <a:srgbClr val="2B2B2B"/>
                </a:solidFill>
              </a:rPr>
              <a:t>Dataset Collection, Hygiene Assessment &amp; Data Dictionary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Week 3: </a:t>
            </a:r>
            <a:r>
              <a:rPr sz="11023">
                <a:solidFill>
                  <a:srgbClr val="2B2B2B"/>
                </a:solidFill>
              </a:rPr>
              <a:t>Exploratory Data Analysis (EDA with 5+ Visualizations)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Week 4: </a:t>
            </a:r>
            <a:r>
              <a:rPr sz="11023">
                <a:solidFill>
                  <a:srgbClr val="2B2B2B"/>
                </a:solidFill>
              </a:rPr>
              <a:t>Data Cleaning, Preprocessing Pipeline &amp; Leakage Prevention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Week 5: </a:t>
            </a:r>
            <a:r>
              <a:rPr sz="11023">
                <a:solidFill>
                  <a:srgbClr val="2B2B2B"/>
                </a:solidFill>
              </a:rPr>
              <a:t>Initial Machine Learning Models &amp; Preliminary Benchmark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Roadmap: </a:t>
            </a:r>
            <a:r>
              <a:rPr sz="11023">
                <a:solidFill>
                  <a:srgbClr val="2B2B2B"/>
                </a:solidFill>
              </a:rPr>
              <a:t>Phase 2 Experimentation, Tuning, Explainability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6450000"/>
            <a:ext cx="115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86">
                <a:solidFill>
                  <a:srgbClr val="6B6B6B"/>
                </a:solidFill>
              </a:defRPr>
            </a:pPr>
            <a:r>
              <a:t>East West Institute of Technology | Machine Learning [BIC703] | Phase 1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0"/>
          <a:lstStyle/>
          <a:p>
            <a:pPr algn="l">
              <a:defRPr sz="15748" b="1">
                <a:solidFill>
                  <a:srgbClr val="FFFFFF"/>
                </a:solidFill>
              </a:defRPr>
            </a:pPr>
            <a:r>
              <a:t>Problem Statement &amp;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300000"/>
            <a:ext cx="10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Problem Statement: </a:t>
            </a:r>
            <a:r>
              <a:rPr sz="11023">
                <a:solidFill>
                  <a:srgbClr val="2B2B2B"/>
                </a:solidFill>
              </a:rPr>
              <a:t>Can we proactively identify employees at risk of voluntary departure to mitigate organizational turnover costs?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Formulation: </a:t>
            </a:r>
            <a:r>
              <a:rPr sz="11023">
                <a:solidFill>
                  <a:srgbClr val="2B2B2B"/>
                </a:solidFill>
              </a:rPr>
              <a:t>Supervised Binary Classification; Target variable: Attrition ∈ {0: No, 1: Yes}.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Key Challenge: </a:t>
            </a:r>
            <a:r>
              <a:rPr sz="11023">
                <a:solidFill>
                  <a:srgbClr val="2B2B2B"/>
                </a:solidFill>
              </a:rPr>
              <a:t>Extreme Class Imbalance (83.9% retained vs. 16.1% departed).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Evaluation Focus: </a:t>
            </a:r>
            <a:r>
              <a:rPr sz="11023">
                <a:solidFill>
                  <a:srgbClr val="2B2B2B"/>
                </a:solidFill>
              </a:rPr>
              <a:t>F1-Score, Precision, Recall and ROC-AUC rather than misleading raw accuracy.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Leakage Protection: </a:t>
            </a:r>
            <a:r>
              <a:rPr sz="11023">
                <a:solidFill>
                  <a:srgbClr val="2B2B2B"/>
                </a:solidFill>
              </a:rPr>
              <a:t>All preprocessing encapsulated strictly inside scikit-learn Pipelines.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6450000"/>
            <a:ext cx="115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86">
                <a:solidFill>
                  <a:srgbClr val="6B6B6B"/>
                </a:solidFill>
              </a:defRPr>
            </a:pPr>
            <a:r>
              <a:t>East West Institute of Technology | Machine Learning [BIC703] | Phase 1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0"/>
          <a:lstStyle/>
          <a:p>
            <a:pPr algn="l">
              <a:defRPr sz="15748" b="1">
                <a:solidFill>
                  <a:srgbClr val="FFFFFF"/>
                </a:solidFill>
              </a:defRPr>
            </a:pPr>
            <a:r>
              <a:t>Dataset Overview &amp; Data Hygiene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300000"/>
            <a:ext cx="10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Source: </a:t>
            </a:r>
            <a:r>
              <a:rPr sz="11023">
                <a:solidFill>
                  <a:srgbClr val="2B2B2B"/>
                </a:solidFill>
              </a:rPr>
              <a:t>IBM HR Analytics Employee Attrition &amp; Performance Benchmark.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Volume: </a:t>
            </a:r>
            <a:r>
              <a:rPr sz="11023">
                <a:solidFill>
                  <a:srgbClr val="2B2B2B"/>
                </a:solidFill>
              </a:rPr>
              <a:t>1,470 employee records across 35 attributes.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Hygiene Audit: </a:t>
            </a:r>
            <a:r>
              <a:rPr sz="11023">
                <a:solidFill>
                  <a:srgbClr val="2B2B2B"/>
                </a:solidFill>
              </a:rPr>
              <a:t>0 missing values across all columns; 0 duplicate records.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Cleaned Modeling Space: </a:t>
            </a:r>
            <a:r>
              <a:rPr sz="11023">
                <a:solidFill>
                  <a:srgbClr val="2B2B2B"/>
                </a:solidFill>
              </a:rPr>
              <a:t>30 features retained (23 numerical + 7 categorical).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Dropped Columns: </a:t>
            </a:r>
            <a:r>
              <a:rPr sz="11023">
                <a:solidFill>
                  <a:srgbClr val="2B2B2B"/>
                </a:solidFill>
              </a:rPr>
              <a:t>EmployeeNumber (ID), EmployeeCount (constant), Over18 (constant), StandardHours (constant).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6450000"/>
            <a:ext cx="115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86">
                <a:solidFill>
                  <a:srgbClr val="6B6B6B"/>
                </a:solidFill>
              </a:defRPr>
            </a:pPr>
            <a:r>
              <a:t>East West Institute of Technology | Machine Learning [BIC703] | Phase 1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0"/>
          <a:lstStyle/>
          <a:p>
            <a:pPr algn="l">
              <a:defRPr sz="15748" b="1">
                <a:solidFill>
                  <a:srgbClr val="FFFFFF"/>
                </a:solidFill>
              </a:defRPr>
            </a:pPr>
            <a:r>
              <a:t>Data Preprocessing &amp;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300000"/>
            <a:ext cx="10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Splitting: </a:t>
            </a:r>
            <a:r>
              <a:rPr sz="11023">
                <a:solidFill>
                  <a:srgbClr val="2B2B2B"/>
                </a:solidFill>
              </a:rPr>
              <a:t>Stratified 70/30 train/test split preserving target class ratio.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Numerical Pipeline: </a:t>
            </a:r>
            <a:r>
              <a:rPr sz="11023">
                <a:solidFill>
                  <a:srgbClr val="2B2B2B"/>
                </a:solidFill>
              </a:rPr>
              <a:t>StandardScaler() applied to 23 continuous and ordinal variables.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Categorical Pipeline: </a:t>
            </a:r>
            <a:r>
              <a:rPr sz="11023">
                <a:solidFill>
                  <a:srgbClr val="2B2B2B"/>
                </a:solidFill>
              </a:rPr>
              <a:t>OneHotEncoder(handle_unknown='ignore') applied to 7 nominal variables.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Dimensionality: </a:t>
            </a:r>
            <a:r>
              <a:rPr sz="11023">
                <a:solidFill>
                  <a:srgbClr val="2B2B2B"/>
                </a:solidFill>
              </a:rPr>
              <a:t>Expanded from 30 raw features to 51 orthogonal normalized dimensions.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Zero Leakage: </a:t>
            </a:r>
            <a:r>
              <a:rPr sz="11023">
                <a:solidFill>
                  <a:srgbClr val="2B2B2B"/>
                </a:solidFill>
              </a:rPr>
              <a:t>ColumnTransformer fitted strictly on training folds inside cv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6450000"/>
            <a:ext cx="115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86">
                <a:solidFill>
                  <a:srgbClr val="6B6B6B"/>
                </a:solidFill>
              </a:defRPr>
            </a:pPr>
            <a:r>
              <a:t>East West Institute of Technology | Machine Learning [BIC703] | Phase 1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0"/>
          <a:lstStyle/>
          <a:p>
            <a:pPr algn="l">
              <a:defRPr sz="15748" b="1">
                <a:solidFill>
                  <a:srgbClr val="FFFFFF"/>
                </a:solidFill>
              </a:defRPr>
            </a:pPr>
            <a:r>
              <a:t>Initial Model Benchmark (Hold-Out Test Set)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300000"/>
            <a:ext cx="10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Support Vector Machine (Champion): </a:t>
            </a:r>
            <a:r>
              <a:rPr sz="11023">
                <a:solidFill>
                  <a:srgbClr val="2B2B2B"/>
                </a:solidFill>
              </a:rPr>
              <a:t>F1 = 0.539 | ROC-AUC = 0.817 | Recall = 0.634 | Accuracy = 0.832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Logistic Regression: </a:t>
            </a:r>
            <a:r>
              <a:rPr sz="11023">
                <a:solidFill>
                  <a:srgbClr val="2B2B2B"/>
                </a:solidFill>
              </a:rPr>
              <a:t>F1 = 0.480 | ROC-AUC = 0.816 | Recall = 0.676 | Accuracy = 0.757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Random Forest: </a:t>
            </a:r>
            <a:r>
              <a:rPr sz="11023">
                <a:solidFill>
                  <a:srgbClr val="2B2B2B"/>
                </a:solidFill>
              </a:rPr>
              <a:t>F1 = 0.455 | ROC-AUC = 0.780 | Recall = 0.423 | Accuracy = 0.844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Decision Tree: </a:t>
            </a:r>
            <a:r>
              <a:rPr sz="11023">
                <a:solidFill>
                  <a:srgbClr val="2B2B2B"/>
                </a:solidFill>
              </a:rPr>
              <a:t>F1 = 0.414 | ROC-AUC = 0.698 | Recall = 0.577 | Accuracy = 0.741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K-Nearest Neighbors: </a:t>
            </a:r>
            <a:r>
              <a:rPr sz="11023">
                <a:solidFill>
                  <a:srgbClr val="2B2B2B"/>
                </a:solidFill>
              </a:rPr>
              <a:t>F1 = 0.286 | ROC-AUC = 0.611 | Recall = 0.197 | Accuracy = 0.841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Key Insight: </a:t>
            </a:r>
            <a:r>
              <a:rPr sz="11023">
                <a:solidFill>
                  <a:srgbClr val="2B2B2B"/>
                </a:solidFill>
              </a:rPr>
              <a:t>KNN has high accuracy (84.1%) but misses 80% of leavers, proving the Accuracy Paradox.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6450000"/>
            <a:ext cx="115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86">
                <a:solidFill>
                  <a:srgbClr val="6B6B6B"/>
                </a:solidFill>
              </a:defRPr>
            </a:pPr>
            <a:r>
              <a:t>East West Institute of Technology | Machine Learning [BIC703] | Phase 1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0"/>
          <a:lstStyle/>
          <a:p>
            <a:pPr algn="l">
              <a:defRPr sz="15748" b="1">
                <a:solidFill>
                  <a:srgbClr val="FFFFFF"/>
                </a:solidFill>
              </a:defRPr>
            </a:pPr>
            <a:r>
              <a:t>Phase 2 Roadmap (Weeks 6 to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300000"/>
            <a:ext cx="10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Week 6 - Deeper Experimentation: </a:t>
            </a:r>
            <a:r>
              <a:rPr sz="11023">
                <a:solidFill>
                  <a:srgbClr val="2B2B2B"/>
                </a:solidFill>
              </a:rPr>
              <a:t>Explore ensemble behaviors and probability calibration.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Week 7 - Hyperparameter Tuning: </a:t>
            </a:r>
            <a:r>
              <a:rPr sz="11023">
                <a:solidFill>
                  <a:srgbClr val="2B2B2B"/>
                </a:solidFill>
              </a:rPr>
              <a:t>5-fold StratifiedSearchCV across SVM, Random Forest and LR.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Week 8 - Threshold Tuning &amp; Error Analysis: </a:t>
            </a:r>
            <a:r>
              <a:rPr sz="11023">
                <a:solidFill>
                  <a:srgbClr val="2B2B2B"/>
                </a:solidFill>
              </a:rPr>
              <a:t>Precision-Recall optimization to maximize F1.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Week 9 - Web Deployment &amp; GitHub: </a:t>
            </a:r>
            <a:r>
              <a:rPr sz="11023">
                <a:solidFill>
                  <a:srgbClr val="2B2B2B"/>
                </a:solidFill>
              </a:rPr>
              <a:t>Streamlit enterprise dashboard with accelerated SHAP.</a:t>
            </a:r>
          </a:p>
          <a:p>
            <a:pPr>
              <a:spcAft>
                <a:spcPts val="472"/>
              </a:spcAft>
            </a:pPr>
            <a:r>
              <a:rPr b="1" sz="11023">
                <a:solidFill>
                  <a:srgbClr val="1F3A5F"/>
                </a:solidFill>
              </a:rPr>
              <a:t>Week 10 - Final Report &amp; Viva: </a:t>
            </a:r>
            <a:r>
              <a:rPr sz="11023">
                <a:solidFill>
                  <a:srgbClr val="2B2B2B"/>
                </a:solidFill>
              </a:rPr>
              <a:t>Final 22-chapter thesis, presentation deck &amp; viva defense.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6450000"/>
            <a:ext cx="115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86">
                <a:solidFill>
                  <a:srgbClr val="6B6B6B"/>
                </a:solidFill>
              </a:defRPr>
            </a:pPr>
            <a:r>
              <a:t>East West Institute of Technology | Machine Learning [BIC703] | Phase 1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