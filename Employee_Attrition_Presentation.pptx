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0000" y="300000"/>
            <a:ext cx="9792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VISVESVARAYA TECHNOLOGICAL UNIVERSITY</a:t>
            </a:r>
          </a:p>
          <a:p>
            <a:pPr algn="ctr">
              <a:defRPr sz="1050">
                <a:solidFill>
                  <a:srgbClr val="64748B"/>
                </a:solidFill>
              </a:defRPr>
            </a:pPr>
            <a:r>
              <a:t>Jnana Sangama, Belgaum - 590014, Karnataka State, India</a:t>
            </a:r>
          </a:p>
        </p:txBody>
      </p:sp>
      <p:pic>
        <p:nvPicPr>
          <p:cNvPr id="4" name="Picture 3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260000"/>
            <a:ext cx="1005840" cy="993319"/>
          </a:xfrm>
          <a:prstGeom prst="rect">
            <a:avLst/>
          </a:prstGeom>
        </p:spPr>
      </p:pic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00" y="260000"/>
            <a:ext cx="1005840" cy="901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00000" y="1100000"/>
            <a:ext cx="9792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DEPARTMENT OF CSE (IoT &amp; Cybersecurity including Blockchain)</a:t>
            </a:r>
          </a:p>
          <a:p>
            <a:pPr algn="ctr">
              <a:defRPr sz="1050">
                <a:solidFill>
                  <a:srgbClr val="0F172A"/>
                </a:solidFill>
              </a:defRPr>
            </a:pPr>
            <a:r>
              <a:t>EAST WEST INSTITUTE OF TECHNOLOGY  •  Off Magadi Main Road, Bengaluru – 560 091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00000" y="1900000"/>
            <a:ext cx="9792000" cy="18000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0000"/>
          <a:lstStyle/>
          <a:p>
            <a:pPr algn="ctr">
              <a:defRPr sz="1100" b="1">
                <a:solidFill>
                  <a:srgbClr val="F4A259"/>
                </a:solidFill>
              </a:defRPr>
            </a:pPr>
            <a:r>
              <a:t>MAJOR PROJECT PRESENTATION | AY 2025–2026</a:t>
            </a:r>
          </a:p>
          <a:p>
            <a:pPr algn="ctr">
              <a:defRPr sz="2200" b="1">
                <a:solidFill>
                  <a:srgbClr val="FFFFFF"/>
                </a:solidFill>
              </a:defRPr>
            </a:pPr>
            <a:r>
              <a:t>EMPLOYEE ATTRITION PREDICTION USING MACHINE LEARNING</a:t>
            </a:r>
          </a:p>
          <a:p>
            <a:pPr algn="ctr">
              <a:defRPr sz="1250">
                <a:solidFill>
                  <a:srgbClr val="CBD5E1"/>
                </a:solidFill>
              </a:defRPr>
            </a:pPr>
            <a:r>
              <a:t>An Explainable Classification-Based Employee Risk Analysis System with Dual-Layer 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0000" y="4000000"/>
            <a:ext cx="4500000" cy="2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Presented By: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ANUSHA H G : 1EW23IC006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CHARAN M S : 1EW23IC012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NITHIN GOWDA R : 1EW23IC031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PUNARVA D N : 1EW23IC037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00000" y="4000000"/>
            <a:ext cx="4500000" cy="2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Under the Guidance of: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Dr. VENKATESHA G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PROFESSOR &amp; HOD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Prof. P BHARATH KRISHNA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Assistant Professor &amp; Course Instructor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Dept. of CSE (IoT &amp; CyS Incl. BCT), EWIT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0000" y="350000"/>
            <a:ext cx="520000" cy="52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00" y="310000"/>
            <a:ext cx="85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t>Introduction / Background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Core principles of predictive people analytics and organizational turnover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0" y="320000"/>
            <a:ext cx="37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EMPLOYEE ATTRITION ML  •  VTU PROJECT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0000" y="1150000"/>
            <a:ext cx="5400000" cy="42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The Human Capital Crisis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• The Hidden Cost: Voluntary turnover costs 50%–200% of an employee's annual salary in recruitment, onboarding, and productivity downtime.</a:t>
            </a:r>
            <a:br/>
            <a:br/>
            <a:r>
              <a:t>• Failure of Static HR: Conventional annual reviews and exit interviews are strictly post-facto—conducted after an employee resigns, offering zero retention window.</a:t>
            </a:r>
            <a:br/>
            <a:br/>
            <a:r>
              <a:t>• Why ML is Critical: Machine learning synthesizes 30+ multi-dimensional signals (overtime, commute distance, compensation, satisfaction) to predict departures weeks in advance.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00000" y="1150000"/>
            <a:ext cx="5600000" cy="9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1. Leakage-Free Preprocessing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scikit-learn ColumnTransformer scaling 23 numerical and encoding 7 categorical features strictly inside cross-validation loops.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00000" y="2200000"/>
            <a:ext cx="5600000" cy="9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2. 5-Model Benchmark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Evaluates SVM, Random Forest, Logistic Regression, Decision Tree, and KNN under stratified 5-fold cross-validation.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0000" y="3250000"/>
            <a:ext cx="5600000" cy="9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3. Accuracy Paradox Resolution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Tackles 84/16 class imbalance with cost-sensitive balanced loss weighting and optimal 0.33 decision threshold tuning.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0000" y="4300000"/>
            <a:ext cx="5600000" cy="10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4. Dual-Layer XAI &amp; Web App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Permutation Importance (global) + Accelerated SHAP (0.32s local) integrated into an enterprise Streamlit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0000" y="350000"/>
            <a:ext cx="520000" cy="52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00" y="310000"/>
            <a:ext cx="85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t>Literature Review / Related Work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Analysis of existing talent analytics literature and identified research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0" y="320000"/>
            <a:ext cx="37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EMPLOYEE ATTRITION ML  •  VTU PROJECT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0000" y="1150000"/>
            <a:ext cx="11250000" cy="38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Comparative Evaluation of Literature &amp; Gap Analysis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1. IBM Watson Analytics (2016): Published foundational 1,470-record HR dataset. Evaluated basic classifiers using raw accuracy, failing to catch rare leavers due to the Accuracy Paradox.</a:t>
            </a:r>
            <a:br/>
            <a:br/>
            <a:r>
              <a:t>2. Chawla et al. (2002) - SMOTE Oversampling: Proposed synthetic minority oversampling. In high-dimensional mixed tabular spaces, SMOTE generates noisy synthetic artifacts that corrupt decision boundaries.</a:t>
            </a:r>
            <a:br/>
            <a:br/>
            <a:r>
              <a:t>3. Breiman et al. (2001) - Random Forests: Proved bagging reduces variance, but MDI feature importance exhibits severe cardinality bias toward continuous features.</a:t>
            </a:r>
            <a:br/>
            <a:br/>
            <a:r>
              <a:t>4. Lundberg &amp; Lee (2017) - SHAP (XAI): Formalized game-theoretic Shapley attributions. However, unoptimized KernelExplainer requires ~57s per sample on SVMs, precluding real-time web deployment.</a:t>
            </a:r>
            <a:br/>
            <a:br/>
            <a:r>
              <a:t>• PROJECT GAP ADDRESSED: Our system combines balanced cost-sensitive weighting, optimal threshold calibration (0.33), 170x accelerated SHAP (0.32s), and automated workforce batch CSV scoring into an end-to-end production tool.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0000" y="350000"/>
            <a:ext cx="520000" cy="52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00" y="310000"/>
            <a:ext cx="85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t>Problem Statement &amp; Motivation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The fatal flaws of reactive retention and severe economic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0" y="320000"/>
            <a:ext cx="37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EMPLOYEE ATTRITION ML  •  VTU PROJECT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0000" y="1150000"/>
            <a:ext cx="11250000" cy="10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Problem Statement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“Traditional human resource management relies on reactive post-resignation exit surveys. Due to severe class imbalance (83.9% retention vs 16.1% attrition), standard models succumb to the Accuracy Paradox while complex black-box algorithms fail to provide actionable retention recommendations.”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0000" y="2300000"/>
            <a:ext cx="3550000" cy="31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1. Severe Replacement Cost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Departures cost $30,000–$75,000 per employee. Losing key technical leads destabilizes product schedules and destroys institutional domain memory.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0000" y="2300000"/>
            <a:ext cx="3550000" cy="31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2. The Accuracy Paradox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A naive model predicting 'Stay' for all 1,470 records scores 83.9% accuracy with ZERO recall. Evaluating models on accuracy alone is disastrous in imbalanced domains.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50000" y="2300000"/>
            <a:ext cx="3550000" cy="31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3. Black-Box Dilemma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HR managers cannot intervene without knowing WHY an employee is leaving. Explainable AI (XAI) is legally and operationally mandatory for enterprise adoption.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0000" y="350000"/>
            <a:ext cx="520000" cy="52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00" y="310000"/>
            <a:ext cx="85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t>Objectives &amp; Scope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Concrete measurable targets and defined project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0" y="320000"/>
            <a:ext cx="37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EMPLOYEE ATTRITION ML  •  VTU PROJECT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0000" y="1150000"/>
            <a:ext cx="2100000" cy="24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01. Extract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Ingest 1,470 records, verify 0 missing values, drop 4 constants, and scale 30 features into 51 normalized inputs.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00000" y="1150000"/>
            <a:ext cx="2100000" cy="24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02. Train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Benchmark 5 algorithms (SVM, RF, LR, DT, KNN) under 5-fold stratified cross-validation with balanced weighting.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0000" y="1150000"/>
            <a:ext cx="2100000" cy="24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03. Tune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Execute GridSearchCV for hyperparameter selection and tune decision threshold from 0.50 to optimal 0.33.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0" y="1150000"/>
            <a:ext cx="2100000" cy="24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04. Explain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Accelerate SHAP KernelExplainer from 57s to 0.32s using k-means background centroids for real-time XAI.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50000" y="1150000"/>
            <a:ext cx="2250000" cy="24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05. Deploy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Streamlit dashboard supporting single-employee presets and workforce batch CSV scoring with 1-click report export.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000" y="3750000"/>
            <a:ext cx="11250000" cy="17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Project Scope Boundaries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• IN SCOPE: End-to-end ML pipeline • 30 features • 5 algorithms • F1 &amp; ROC-AUC evaluation • Accelerated SHAP • Batch CSV scoring • 10 automated unit tests (100% pass).</a:t>
            </a:r>
            <a:br/>
            <a:r>
              <a:t>• DEVELOPMENT SCOPE &amp; HONEST BOUNDARIES: Evaluated on IBM HR benchmark snapshot data; lacks longitudinal event-history intervals for continuous survival analysis. Production integration requires enterprise HRIS (Workday/SAP) connectors.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0000" y="350000"/>
            <a:ext cx="520000" cy="52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00" y="310000"/>
            <a:ext cx="85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t>Proposed Methodology / System Design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4-Layer leak-free Machine Learning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0" y="320000"/>
            <a:ext cx="37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EMPLOYEE ATTRITION ML  •  VTU PROJECT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0000" y="1150000"/>
            <a:ext cx="11250000" cy="9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1. DATA INGESTION &amp; QUALITY AUDIT LAYER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IBM HR Dataset (1,470 rows, 35 attributes)  •  Zero missing values  •  Zero duplicate records  •  Removal of EmployeeNumber, EmployeeCount, StandardHours, Over18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0000" y="2200000"/>
            <a:ext cx="11250000" cy="9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2. PREPROCESSING &amp; PIPELINE LAYER (ZERO LEAKAGE)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ColumnTransformer: StandardScaler on 23 numerical features + OneHotEncoder on 7 categoricals  •  Expands to 51 dense dimensions  •  Stratified 70/30 split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0000" y="3250000"/>
            <a:ext cx="11250000" cy="9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3. PREDICTIVE MODELING &amp; TUNING LAYER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Cost-Sensitive Balanced Loss Weighting  •  GridSearchCV 5-Fold Cross Validation  •  Threshold Optimization at 0.33  •  Champion Model: SVM (RBF Kernel)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000" y="4300000"/>
            <a:ext cx="11250000" cy="11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4. DUAL-LAYER EXPLAINABILITY &amp; WEB DEPLOYMENT LAYER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Global Permutation Importance  •  Accelerated Local SHAP (0.32s)  •  Streamlit Web Application  •  Batch Workforce CSV Scoring  •  Downloadable Scored Reports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0000" y="350000"/>
            <a:ext cx="520000" cy="52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00" y="310000"/>
            <a:ext cx="85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t>Proposed Methodology / Workflow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Individual diagnostic and workforce batch assessment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0" y="320000"/>
            <a:ext cx="37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EMPLOYEE ATTRITION ML  •  VTU PROJECT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0000" y="1150000"/>
            <a:ext cx="5400000" cy="4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INDIVIDUAL EMPLOYEE DIAGNOSTIC WORKFLOW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• Step 1: Input Profile: User inputs 30 features or selects quick-fill Persona Preset (High-Risk Sales Rep, Low-Risk Senior Director, Average R&amp;D).</a:t>
            </a:r>
            <a:br/>
            <a:br/>
            <a:r>
              <a:t>• Step 2: Pipeline Transformation: Input vector scaled and one-hot encoded using pre-fitted ColumnTransformer.</a:t>
            </a:r>
            <a:br/>
            <a:br/>
            <a:r>
              <a:t>• Step 3: Probability Inference: Champion SVM computes calibrated churn probability P(attrition).</a:t>
            </a:r>
            <a:br/>
            <a:br/>
            <a:r>
              <a:t>• Step 4: Decision &amp; Risk Tiering: Threshold 0.33 classifies verdict; mapped to Low (&lt;30%), Medium (30-55%), High (55-80%), Critical (≥80%).</a:t>
            </a:r>
            <a:br/>
            <a:br/>
            <a:r>
              <a:t>• Step 5: Instant SHAP Explanation: Computes top-6 risk factors in 0.32s; renders interactive waterfall attribution bar chart.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00000" y="1150000"/>
            <a:ext cx="5600000" cy="4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WORKFORCE BATCH CSV SCORING WORKFLOW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• Step 1: Roster Upload: HR executive uploads corporate employee CSV roster or loads 100 sample records.</a:t>
            </a:r>
            <a:br/>
            <a:br/>
            <a:r>
              <a:t>• Step 2: Vectorized Batch Inference: Ingests full dataset and scores all records in parallel (&lt;100 ms).</a:t>
            </a:r>
            <a:br/>
            <a:br/>
            <a:r>
              <a:t>• Step 3: Workforce Analytics: Computes predicted department attrition rates, risk tier breakdown donut chart, and average churn probability.</a:t>
            </a:r>
            <a:br/>
            <a:br/>
            <a:r>
              <a:t>• Step 4: High-Risk Ranking: Ranks employees by churn risk, highlighting intervention priorities.</a:t>
            </a:r>
            <a:br/>
            <a:br/>
            <a:r>
              <a:t>• Step 5: Exportable Scored Report: One-click export of employee_attrition_scored.csv containing predictions, probabilities, and risk tiers.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0000" y="350000"/>
            <a:ext cx="520000" cy="52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00" y="310000"/>
            <a:ext cx="85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t>Tools, Technologies &amp; Implementation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Technology stack and engineering components powering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0" y="320000"/>
            <a:ext cx="37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EMPLOYEE ATTRITION ML  •  VTU PROJECT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0000" y="1150000"/>
            <a:ext cx="5400000" cy="20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Core Platform &amp; Machine Learning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• Language: Python 3.14.3 with strict type annotations</a:t>
            </a:r>
            <a:br/>
            <a:r>
              <a:t>• ML Framework: scikit-learn 1.5 &amp; Joblib 1.3</a:t>
            </a:r>
            <a:br/>
            <a:r>
              <a:t>• Algorithms: Support Vector Classifier (RBF), Random Forest, Logistic Regression, Decision Tree, KNN</a:t>
            </a:r>
            <a:br/>
            <a:r>
              <a:t>• Hyperparameter Tuning: Stratified 5-Fold GridSearchCV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00000" y="1150000"/>
            <a:ext cx="5600000" cy="20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Explainability (XAI) &amp; Analytics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• Local Explainability: SHAP 0.45 KernelExplainer &amp; TreeExplainer</a:t>
            </a:r>
            <a:br/>
            <a:r>
              <a:t>• 170x Acceleration: shap.kmeans(background, 10) + explainer caching</a:t>
            </a:r>
            <a:br/>
            <a:r>
              <a:t>• Global Importance: Model-agnostic Permutation Importance</a:t>
            </a:r>
            <a:br/>
            <a:r>
              <a:t>• Mathematical Rigor: Game-theoretic Shapley value attribution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0000" y="3350000"/>
            <a:ext cx="5400000" cy="21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Interactive Web Application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• Dashboard Framework: Streamlit 1.36 Glassmorphic UI</a:t>
            </a:r>
            <a:br/>
            <a:r>
              <a:t>• Dynamic Visualizations: Plotly 5.20 Graph Objects</a:t>
            </a:r>
            <a:br/>
            <a:r>
              <a:t>• Presets: Pre-configured employee personas for instant testing</a:t>
            </a:r>
            <a:br/>
            <a:r>
              <a:t>• Batch Processing: Vectorized multi-record CSV scoring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0000" y="3350000"/>
            <a:ext cx="5600000" cy="21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Quality Assurance &amp; Deliverables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• Unit Testing: Python unittest suite (10/10 passing tests in 4.88s)</a:t>
            </a:r>
            <a:br/>
            <a:r>
              <a:t>• Documentation: python-docx 1.1 generating 22-chapter thesis</a:t>
            </a:r>
            <a:br/>
            <a:r>
              <a:t>• Presentation: python-pptx 1.0 generating 15-slide deck</a:t>
            </a:r>
            <a:br/>
            <a:r>
              <a:t>• Measured Latency: Single predict ~12ms | SHAP ~320ms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0000" y="350000"/>
            <a:ext cx="520000" cy="52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00" y="310000"/>
            <a:ext cx="85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t>Results &amp; Discussion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Empirical benchmark comparison on 30% hold-out test set (441 employees)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0" y="320000"/>
            <a:ext cx="37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EMPLOYEE ATTRITION ML  •  VTU PROJECT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0000" y="1150000"/>
            <a:ext cx="11250000" cy="25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Hold-Out Benchmark Across 5 Classifiers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• Support Vector Machine (Champion): F1 = 0.539 | ROC-AUC = 0.817 | Recall = 0.634 | Precision = 0.474 | CV F1 = 0.553</a:t>
            </a:r>
            <a:br/>
            <a:r>
              <a:t>• Logistic Regression: F1 = 0.480 | ROC-AUC = 0.816 | Recall = 0.676 | Precision = 0.366 | CV F1 = 0.512</a:t>
            </a:r>
            <a:br/>
            <a:r>
              <a:t>• Random Forest: F1 = 0.455 | ROC-AUC = 0.780 | Recall = 0.423 | Precision = 0.488 | CV F1 = 0.514</a:t>
            </a:r>
            <a:br/>
            <a:r>
              <a:t>• Decision Tree: F1 = 0.414 | ROC-AUC = 0.698 | Recall = 0.577 | Precision = 0.320 | CV F1 = 0.408</a:t>
            </a:r>
            <a:br/>
            <a:r>
              <a:t>• K-Nearest Neighbors: F1 = 0.286 | ROC-AUC = 0.611 | Recall = 0.197 | Precision = 0.519 | CV F1 = 0.284</a:t>
            </a:r>
            <a:br/>
            <a:br/>
            <a:r>
              <a:t>• THE ACCURACY PARADOX: KNN scored high accuracy (84.1%) but lowest F1 (0.286), missing 80% of leavers!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0000" y="3800000"/>
            <a:ext cx="5400000" cy="16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Optimal Threshold Calibration (0.33)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Lowering decision threshold from 0.50 to 0.33 raised SVM test F1 to 0.5594, Precision to 0.5556, Recall to 0.5634, and Accuracy to 0.8571.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00000" y="3800000"/>
            <a:ext cx="5600000" cy="16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Economic Cost Matrix (FN vs FP)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Caught 40 true leavers (saving ~$1.2M in turnover costs). False Positives (32) cost only ~$1,000 each in check-ins. Cost(FN) &gt;&gt; Cost(FP).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0000" y="350000"/>
            <a:ext cx="520000" cy="52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00" y="310000"/>
            <a:ext cx="85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t>Testing &amp; Validation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Verification of preprocessing, inference, probability bounds, and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0" y="320000"/>
            <a:ext cx="37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EMPLOYEE ATTRITION ML  •  VTU PROJECT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0000" y="1150000"/>
            <a:ext cx="2600000" cy="24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01. Data &amp; Preprocessing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test_load_data_shape_and_columns: PASS</a:t>
            </a:r>
            <a:br/>
            <a:r>
              <a:t>test_prepare_dataframe: PASS</a:t>
            </a:r>
            <a:br/>
            <a:r>
              <a:t>test_preprocessor_transformation: PASS (51 dense features)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50000" y="1150000"/>
            <a:ext cx="2600000" cy="24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02. Prediction Service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test_load_model_bundle_keys: PASS</a:t>
            </a:r>
            <a:br/>
            <a:r>
              <a:t>test_predict_probability_bounds: PASS (0 &lt;= P &lt;= 1)</a:t>
            </a:r>
            <a:br/>
            <a:r>
              <a:t>test_risk_level_mapping: PASS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50000" y="1150000"/>
            <a:ext cx="2600000" cy="24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03. XAI &amp; Batch Scoring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test_predict_with_explanation: PASS (Instant SHAP ranked attributions)</a:t>
            </a:r>
            <a:br/>
            <a:r>
              <a:t>test_batch_predict: PASS (DataFrame multi-record scoring)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50000" y="1150000"/>
            <a:ext cx="2850000" cy="24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04. Metrics &amp; Threshold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test_compute_metrics: PASS</a:t>
            </a:r>
            <a:br/>
            <a:r>
              <a:t>test_compute_threshold_curve: PASS</a:t>
            </a:r>
            <a:br/>
            <a:r>
              <a:t>Total: 10/10 OK (4.88s)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000" y="3750000"/>
            <a:ext cx="11250000" cy="17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Scope of Validation &amp; Honest Boundaries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• Rigorous Automated Testing: All pipeline contracts, dimensional transformations, and probability bounds validated via unittest suite.</a:t>
            </a:r>
            <a:br/>
            <a:r>
              <a:t>• Development Scope Disclosures: Evaluated on IBM HR benchmark snapshot data; production deployment requires enterprise database connectors and scheduled re-training pipelines.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0000" y="350000"/>
            <a:ext cx="520000" cy="52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00" y="310000"/>
            <a:ext cx="85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t>Risks, Challenges &amp; Mitigation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Identified technical challenges and operational countermeasures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0" y="320000"/>
            <a:ext cx="37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EMPLOYEE ATTRITION ML  •  VTU PROJECT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0000" y="1150000"/>
            <a:ext cx="5400000" cy="20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1. Severe Class Imbalance (84:16)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• Challenge: Models default to predicting 'Stay', scoring high accuracy while finding zero leavers.</a:t>
            </a:r>
            <a:br/>
            <a:r>
              <a:t>• Countermeasure: Applied cost-sensitive balanced loss weighting (w_1=3.101, w_0=0.596) and tuned threshold to 0.33.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00000" y="1150000"/>
            <a:ext cx="5600000" cy="20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2. SHAP Inference Latency (57 seconds)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• Challenge: KernelExplainer evaluating on 100 raw background rows took 57 seconds per prediction.</a:t>
            </a:r>
            <a:br/>
            <a:r>
              <a:t>• Countermeasure: Summarized background to 10 weighted k-means centroids, cutting runtime to 0.32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0000" y="3350000"/>
            <a:ext cx="5400000" cy="21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3. Data Leakage Vulnerability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• Challenge: Preprocessing transformers fitted on full dataset leak test set statistics.</a:t>
            </a:r>
            <a:br/>
            <a:r>
              <a:t>• Countermeasure: Encapsulated ColumnTransformer strictly inside scikit-learn Pipelines with 5-fold CV.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0000" y="3350000"/>
            <a:ext cx="5600000" cy="21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4. Algorithmic Fairness &amp; Bias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• Challenge: Features such as Gender and Marital Status can introduce discriminatory bias.</a:t>
            </a:r>
            <a:br/>
            <a:r>
              <a:t>• Countermeasure: Permutation importance proves tenure, overtime, and satisfaction dominate predictions.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0000" y="350000"/>
            <a:ext cx="520000" cy="52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00" y="310000"/>
            <a:ext cx="85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t>Applications, Future Scope &amp; Conclusion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Significance, deployment scope, and strategic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0" y="320000"/>
            <a:ext cx="37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EMPLOYEE ATTRITION ML  •  VTU PROJECT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0000" y="1150000"/>
            <a:ext cx="3550000" cy="4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Enterprise Applications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• Engineering &amp; IT: Flag overworked software developers facing burnout.</a:t>
            </a:r>
            <a:br/>
            <a:br/>
            <a:r>
              <a:t>• Sales Organizations: Prevent churn in high-turnover sales representative roles.</a:t>
            </a:r>
            <a:br/>
            <a:br/>
            <a:r>
              <a:t>• Healthcare Systems: Support hospital staffing resilience by monitoring nurse and physician workload.</a:t>
            </a:r>
            <a:br/>
            <a:br/>
            <a:r>
              <a:t>• Corporate Compensation: Optimize stock option allocation to retain top technical talent.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0000" y="1150000"/>
            <a:ext cx="3550000" cy="4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Future Scope Roadmap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• Enterprise HRIS Connectors: Build secure REST APIs connecting directly to Workday and SAP SuccessFactors.</a:t>
            </a:r>
            <a:br/>
            <a:br/>
            <a:r>
              <a:t>• NLP Sentiment Extraction: Ingest free-text annual review comments using transformer embeddings.</a:t>
            </a:r>
            <a:br/>
            <a:br/>
            <a:r>
              <a:t>• Deep Survival Analysis: Deploy Cox Proportional Hazards modeling to predict exact departure months.</a:t>
            </a:r>
            <a:br/>
            <a:br/>
            <a:r>
              <a:t>• Fairness Audits: Automated monitoring of demographic parity across protected subgroups.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50000" y="1150000"/>
            <a:ext cx="3550000" cy="4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Project Conclusion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• System Validated: Successfully developed an authentic, explainable employee attrition prediction platform.</a:t>
            </a:r>
            <a:br/>
            <a:br/>
            <a:r>
              <a:t>• Champion Performance: SVM achieves test F1 = 0.5594, ROC-AUC = 0.8168 at optimal threshold 0.33.</a:t>
            </a:r>
            <a:br/>
            <a:br/>
            <a:r>
              <a:t>• Real-Time XAI: 170x accelerated SHAP delivers actionable factor attributions in 0.32 seconds.</a:t>
            </a:r>
            <a:br/>
            <a:br/>
            <a:r>
              <a:t>• Production Ready: Enterprise Streamlit application with single and batch workforce scoring.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0000" y="350000"/>
            <a:ext cx="520000" cy="52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00" y="310000"/>
            <a:ext cx="85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t>Link to Relevant SDGs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Alignment with UN Sustainable Development Goals for decent work and economic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0" y="320000"/>
            <a:ext cx="37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EMPLOYEE ATTRITION ML  •  VTU PROJECT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0000" y="1150000"/>
            <a:ext cx="3550000" cy="4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SDG 8: Decent Work &amp; Economic Growth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Target Alignment: Target 8.5 &amp; Target 8.8: Achieve productive employment and protect labour rights.</a:t>
            </a:r>
            <a:br/>
            <a:br/>
            <a:r>
              <a:t>Workplace Well-Being: Excessive overtime and poor work-life balance are primary causes of employee burnout and voluntary turnover.</a:t>
            </a:r>
            <a:br/>
            <a:br/>
            <a:r>
              <a:t>Project Contribution: By diagnosing overtime stress and low satisfaction early, our system enables HR leadership to rebalance workloads and foster healthier working environments.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0000" y="1150000"/>
            <a:ext cx="3550000" cy="4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SDG 9: Industry, Innovation &amp; Infrastructure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Target Alignment: Target 9.4 &amp; Target 9.5: Upgrade enterprise technological capabilities.</a:t>
            </a:r>
            <a:br/>
            <a:br/>
            <a:r>
              <a:t>Operational Resilience: High employee turnover disrupts manufacturing and technical R&amp;D pipelines.</a:t>
            </a:r>
            <a:br/>
            <a:br/>
            <a:r>
              <a:t>Project Contribution: Deploying predictive machine learning transforms human resources from reactive administrative processing into an intelligent, data-driven management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50000" y="1150000"/>
            <a:ext cx="3550000" cy="4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SDG 10: Reduced Inequalities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Target Alignment: Target 10.2 &amp; Target 10.4: Promote equitable treatment and eliminate compensation disparity.</a:t>
            </a:r>
            <a:br/>
            <a:br/>
            <a:r>
              <a:t>Fairness &amp; Transparency: Black-box retention decisions risk unfair managerial favoritism.</a:t>
            </a:r>
            <a:br/>
            <a:br/>
            <a:r>
              <a:t>Project Contribution: Our Dual-Layer XAI architecture ensures that retention interventions are based on transparent, audited feature attributions rather than subjective bias.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0000" y="350000"/>
            <a:ext cx="520000" cy="52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00" y="310000"/>
            <a:ext cx="85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t>References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Authoritative IEEE standards and publications in Machine Learning and XAI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0" y="320000"/>
            <a:ext cx="37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EMPLOYEE ATTRITION ML  •  VTU PROJECT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0000" y="1150000"/>
            <a:ext cx="11250000" cy="4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60000" bIns="160000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Cited Literature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</a:defRPr>
            </a:pPr>
            <a:r>
              <a:t>1. S. M. Lundberg and S. I. Lee, “A unified approach to interpreting model predictions,” in Advances in Neural Information Processing Systems (NeurIPS 2017), vol. 30, pp. 4765–4774, 2017.</a:t>
            </a:r>
            <a:br/>
            <a:br/>
            <a:r>
              <a:t>2. F. Pedregosa, G. Varoquaux, A. Gramfort, V. Michel, et al., “Scikit-learn: Machine learning in Python,” Journal of Machine Learning Research, vol. 12, pp. 2825–2830, Nov. 2011.</a:t>
            </a:r>
            <a:br/>
            <a:br/>
            <a:r>
              <a:t>3. IBM Watson Analytics, “HR Employee Attrition and Performance Dataset,” IBM Corporation, Kaggle Open Datasets, 2016.</a:t>
            </a:r>
            <a:br/>
            <a:br/>
            <a:r>
              <a:t>4. N. V. Chawla, K. W. Bowyer, L. O. Hall, and W. P. Kegelmeyer, “SMOTE: synthetic minority over-sampling technique,” Journal of Artificial Intelligence Research, vol. 16, pp. 321–357, Jun. 2002.</a:t>
            </a:r>
            <a:br/>
            <a:br/>
            <a:r>
              <a:t>5. L. Breiman, “Random forests,” Machine Learning, vol. 45, no. 1, pp. 5–32, Oct. 2001. DOI: 10.1023/A:1010933404324.</a:t>
            </a:r>
            <a:br/>
            <a:br/>
            <a:r>
              <a:t>6. C. Cortes and V. Vapnik, “Support-vector networks,” Machine Learning, vol. 20, no. 3, pp. 273–297, Sep. 1995. DOI: 10.1007/BF00994018.</a:t>
            </a:r>
            <a:br/>
            <a:br/>
            <a:r>
              <a:t>7. Society for Human Resource Management (SHRM), “Human Capital Benchmarking Report,” SHRM Research, Alexandria, VA, USA, Tech. Rep., 2023.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00000" y="1200000"/>
            <a:ext cx="1192000" cy="1192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0" y="2600000"/>
            <a:ext cx="91920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1400">
                <a:solidFill>
                  <a:srgbClr val="F4A259"/>
                </a:solidFill>
              </a:defRPr>
            </a:pPr>
            <a:r>
              <a:t>Employee Attrition Prediction Using Machine Learning  •  Explainable AI with Fast SHAP</a:t>
            </a:r>
          </a:p>
          <a:p>
            <a:br/>
            <a:pPr algn="ctr">
              <a:defRPr sz="1600" b="1">
                <a:solidFill>
                  <a:srgbClr val="FFFFFF"/>
                </a:solidFill>
              </a:defRPr>
            </a:pPr>
            <a:r>
              <a:t>Questions &amp; Discussion | Project Viva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0" y="4800000"/>
            <a:ext cx="9192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CBD5E1"/>
                </a:solidFill>
              </a:defRPr>
            </a:pPr>
            <a:r>
              <a:t>ANUSHA H G : 1EW23IC006       •       CHARAN M S : 1EW23IC012</a:t>
            </a:r>
          </a:p>
          <a:p>
            <a:pPr algn="ctr">
              <a:defRPr sz="1200" b="1">
                <a:solidFill>
                  <a:srgbClr val="CBD5E1"/>
                </a:solidFill>
              </a:defRPr>
            </a:pPr>
            <a:r>
              <a:t>NITHIN GOWDA R : 1EW23IC031       •       PUNARVA D N : 1EW23IC037</a:t>
            </a:r>
          </a:p>
          <a:p>
            <a:pPr algn="ctr">
              <a:defRPr sz="1100">
                <a:solidFill>
                  <a:srgbClr val="F4A259"/>
                </a:solidFill>
              </a:defRPr>
            </a:pPr>
            <a:r>
              <a:t>Under the Guidance of: Prof. P Bharath Krishna &amp; Dr. Venkatesha G (HOD)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